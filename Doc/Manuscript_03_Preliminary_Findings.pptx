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2" r:id="rId3"/>
    <p:sldId id="257" r:id="rId4"/>
    <p:sldId id="258" r:id="rId5"/>
    <p:sldId id="259" r:id="rId6"/>
    <p:sldId id="260" r:id="rId7"/>
    <p:sldId id="261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99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F0C187-6809-BBD1-A3AD-4DEFFB1895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7B0BB50-5FC3-5C1C-8F2A-C1D4719CFE4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DA7F6D-21A3-89EE-206E-BA6A98695A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B72986-F7EF-4900-A8BF-F6336B1CCA1E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34D2A1-68D9-FBA6-1DD9-2F60768EE2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A8BA94-02DC-E258-5405-EC2D12D46E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53A726-8BD0-4F6A-BF43-AF2A2CC575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4772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3077DA-745E-DF86-2579-D41156B628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341B33-8132-0C4A-E0B1-897C064E8F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65D636-5AFF-00FE-7D57-F8525FA635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B72986-F7EF-4900-A8BF-F6336B1CCA1E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3ED187-DE91-7A41-D29B-715FC5B1D3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6CA3CF-684D-E2EB-86B2-364A2648A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53A726-8BD0-4F6A-BF43-AF2A2CC575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15846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1DBD5A-A566-7422-3A51-D2C18E4FCF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7579DE-A4BB-D684-6090-5ADF072E81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E11868-F03B-BA2B-CC4A-CA62F9B658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B72986-F7EF-4900-A8BF-F6336B1CCA1E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9C3BB7-6FEE-B56C-1D7D-F76F60912C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83058A-721D-6555-9A2C-F8CE2F946E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53A726-8BD0-4F6A-BF43-AF2A2CC575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04234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2F5EF2-D443-B325-9824-A3576B92CD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880EC3-E107-9A56-DFA1-7000507EFC4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F7FB289-708A-C48A-CA2D-E64AEBAB47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CE2C8D-0037-07FC-8239-40E7A5CD90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B72986-F7EF-4900-A8BF-F6336B1CCA1E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EFED59-F537-7614-4409-4DD699215A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61A546-7558-1F52-D0F3-350618E7F7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53A726-8BD0-4F6A-BF43-AF2A2CC575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1014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2CE3CE-E1A1-69F3-8F35-DC6B5A1690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22A6C4-21FF-A0DD-0DF7-25B1B28E42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3054187-3A46-5D2F-89A7-99C55036C3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CFFEBE2-8618-9D82-B743-6516022328F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FFAFEBE-384C-E7C4-39FF-ED86376EAB7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99393B3-7D9C-54A7-4DAA-2B0204A60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B72986-F7EF-4900-A8BF-F6336B1CCA1E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759E790-B7A0-1C50-8BB7-FACE6C456E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DA43AAE-865F-6816-C114-3F05903C93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53A726-8BD0-4F6A-BF43-AF2A2CC575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93874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AEA313-7FD7-4288-03EF-319BAF6E0E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6475894-80C5-48E7-690F-5EBD961417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B72986-F7EF-4900-A8BF-F6336B1CCA1E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ED96A74-D103-5C26-ED36-445B5E8849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B4E6DB5-0183-812D-0F99-D3D662CDEF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53A726-8BD0-4F6A-BF43-AF2A2CC575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53695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F866E52-0879-9290-2647-92C1A832F8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B72986-F7EF-4900-A8BF-F6336B1CCA1E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03D54C3-1AB4-0823-A904-D894EBE91A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1168EE-3662-EEC4-06D0-716F141B86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53A726-8BD0-4F6A-BF43-AF2A2CC575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24298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3E333E-78A7-768A-0184-10DF6177E9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0D8F9D-5030-10DD-5369-6CECA031DE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812B6D-DC11-0DEF-2F04-739D0B6C29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F6744CB-2084-7E22-6575-A27D2E3069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B72986-F7EF-4900-A8BF-F6336B1CCA1E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D8CB737-B991-4D26-0CC5-E8742E7288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E5F47A-5468-08BE-1ABD-1BFC37990F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53A726-8BD0-4F6A-BF43-AF2A2CC575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34122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0B7641-056F-A0CA-E744-CDFC87A6AB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C2510A9-8548-13AC-4414-EBEDA7B684A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A1C3135-DB83-AE8A-AA24-70018117E7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6C52F0-1487-8328-6660-0F30A1EBE2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B72986-F7EF-4900-A8BF-F6336B1CCA1E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48F68F5-80AF-7422-7E2C-CFA864A0CA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69F88F-1176-E241-C7A0-DA47581D54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53A726-8BD0-4F6A-BF43-AF2A2CC575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72818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BA9266-B7ED-8B8B-C842-B5A2CAE65C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02FEEC8-44CC-E2A6-E8FF-3FE2942324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2EC0FC-3A0D-8557-87FC-56C50CC492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B72986-F7EF-4900-A8BF-F6336B1CCA1E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54387D-FB15-EF3E-B43A-8864969F80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E2D56D-29A1-FFAA-3122-35C1BD00C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53A726-8BD0-4F6A-BF43-AF2A2CC575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84226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AC43F05-10D7-26D8-A9D1-4D9EE4C03CF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F645A61-0F2A-5856-FB19-8AEB4A0569D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9BF1A0-DADE-2452-3AFB-20A50EFF4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B72986-F7EF-4900-A8BF-F6336B1CCA1E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3D5531-BCD3-3EF4-5006-F97ED8108B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BAA43B-3A9E-AC41-29C1-251B03EFCB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53A726-8BD0-4F6A-BF43-AF2A2CC575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82615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8C90C84-9EA5-DBFB-42AE-8A8075C4D2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F9F9C2-323E-3A19-7542-0F5444839C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0987BE-03F5-EA35-A653-4750FD30B34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EB72986-F7EF-4900-A8BF-F6336B1CCA1E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C7D9B6-3763-947A-499B-1002A0B594D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BBA33A-E95C-7B19-D065-5AE854CB902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A53A726-8BD0-4F6A-BF43-AF2A2CC575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78118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9CCF49-9BD4-8BEF-9D58-DDFF580EA46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S. AUREUS MANUSCRIPT_03 My Preliminary Findings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F55AA75-AA3F-E664-5683-54EFE19F580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b="1" dirty="0"/>
              <a:t>Prepared by</a:t>
            </a:r>
            <a:r>
              <a:rPr lang="en-US" dirty="0"/>
              <a:t>: Sulayman Sowe</a:t>
            </a:r>
          </a:p>
          <a:p>
            <a:r>
              <a:rPr lang="en-US" b="1" dirty="0"/>
              <a:t>Institution</a:t>
            </a:r>
            <a:r>
              <a:rPr lang="en-US" dirty="0"/>
              <a:t>: MRCG at LSHTM</a:t>
            </a:r>
          </a:p>
          <a:p>
            <a:r>
              <a:rPr lang="en-US" b="1" dirty="0"/>
              <a:t>Submitted</a:t>
            </a:r>
            <a:r>
              <a:rPr lang="en-US" dirty="0"/>
              <a:t> </a:t>
            </a:r>
            <a:r>
              <a:rPr lang="en-US" b="1" dirty="0"/>
              <a:t>to</a:t>
            </a:r>
            <a:r>
              <a:rPr lang="en-US" dirty="0"/>
              <a:t>: Dr. Abdoulie Bojang, Research Fellow &amp; PI</a:t>
            </a:r>
          </a:p>
        </p:txBody>
      </p:sp>
    </p:spTree>
    <p:extLst>
      <p:ext uri="{BB962C8B-B14F-4D97-AF65-F5344CB8AC3E}">
        <p14:creationId xmlns:p14="http://schemas.microsoft.com/office/powerpoint/2010/main" val="14268026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85E13A-77D4-4198-3122-997E2C9A0F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Research Topic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5B3648-C284-6932-BB50-757B50FEE2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2376" y="1825625"/>
            <a:ext cx="10631424" cy="4351338"/>
          </a:xfrm>
        </p:spPr>
        <p:txBody>
          <a:bodyPr>
            <a:normAutofit lnSpcReduction="10000"/>
          </a:bodyPr>
          <a:lstStyle/>
          <a:p>
            <a:r>
              <a:rPr lang="en-US" b="1" i="1" dirty="0"/>
              <a:t>Our hypothesis: </a:t>
            </a:r>
          </a:p>
          <a:p>
            <a:pPr marL="0" indent="0">
              <a:buNone/>
            </a:pPr>
            <a:r>
              <a:rPr lang="en-US" i="1" dirty="0"/>
              <a:t>Is nasopharyngeal carriage of Staphylococcus aureus associated with invasive disease in the same patient? A genomic approach.  </a:t>
            </a:r>
          </a:p>
          <a:p>
            <a:pPr marL="0" indent="0">
              <a:buNone/>
            </a:pPr>
            <a:r>
              <a:rPr lang="en-US" b="1" i="1" dirty="0"/>
              <a:t>  </a:t>
            </a:r>
          </a:p>
          <a:p>
            <a:r>
              <a:rPr lang="en-US" b="1" i="1" dirty="0"/>
              <a:t>The data we have: </a:t>
            </a:r>
          </a:p>
          <a:p>
            <a:pPr marL="0" indent="0">
              <a:buNone/>
            </a:pPr>
            <a:r>
              <a:rPr lang="en-US" b="1" i="1" dirty="0"/>
              <a:t> </a:t>
            </a:r>
            <a:r>
              <a:rPr lang="en-US" dirty="0"/>
              <a:t>1.</a:t>
            </a:r>
            <a:r>
              <a:rPr lang="en-US" b="1" i="1" dirty="0"/>
              <a:t> </a:t>
            </a:r>
            <a:r>
              <a:rPr lang="en-US" dirty="0"/>
              <a:t>Our cohort was heavily skewed towards young infants (median age: 9.0 months) presenting during the high-transmission rainy season (62.9%) </a:t>
            </a:r>
            <a:r>
              <a:rPr lang="en-US" i="1" dirty="0"/>
              <a:t>Table 2. i.e. </a:t>
            </a:r>
            <a:r>
              <a:rPr lang="en-US" dirty="0"/>
              <a:t>35</a:t>
            </a:r>
            <a:r>
              <a:rPr lang="en-US" i="1" dirty="0"/>
              <a:t> </a:t>
            </a:r>
            <a:r>
              <a:rPr lang="en-US" dirty="0"/>
              <a:t>Pediatric</a:t>
            </a:r>
            <a:r>
              <a:rPr lang="en-US" i="1" dirty="0"/>
              <a:t> </a:t>
            </a:r>
            <a:r>
              <a:rPr lang="en-US" dirty="0"/>
              <a:t>patients</a:t>
            </a:r>
            <a:r>
              <a:rPr lang="en-US" i="1" dirty="0"/>
              <a:t>.</a:t>
            </a:r>
          </a:p>
          <a:p>
            <a:pPr marL="0" indent="0">
              <a:buNone/>
            </a:pPr>
            <a:r>
              <a:rPr lang="en-US" dirty="0"/>
              <a:t>2. Isolates were characterized using MLST and profiled for 30 distinct virulence genes and AMR markers.</a:t>
            </a:r>
          </a:p>
          <a:p>
            <a:pPr marL="0" indent="0">
              <a:buNone/>
            </a:pPr>
            <a:endParaRPr lang="en-US" i="1" dirty="0"/>
          </a:p>
          <a:p>
            <a:pPr marL="0" indent="0">
              <a:buNone/>
            </a:pPr>
            <a:endParaRPr lang="en-US" dirty="0"/>
          </a:p>
          <a:p>
            <a:endParaRPr lang="en-US" b="1" i="1" dirty="0"/>
          </a:p>
        </p:txBody>
      </p:sp>
    </p:spTree>
    <p:extLst>
      <p:ext uri="{BB962C8B-B14F-4D97-AF65-F5344CB8AC3E}">
        <p14:creationId xmlns:p14="http://schemas.microsoft.com/office/powerpoint/2010/main" val="31692863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58CC46-6E23-C65E-DE50-109619CB2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8515" y="1006492"/>
            <a:ext cx="3800635" cy="1401183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0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Figure 1</a:t>
            </a:r>
            <a:r>
              <a:rPr lang="en-US" sz="30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: Visual representation of my core result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FC23E3B9-5ABF-58B3-E2B0-E9A5DAA900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61462" y="871146"/>
            <a:ext cx="736939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45D38EF-A59B-F3E9-9B91-5BD48BA4A0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61840" y="2551176"/>
            <a:ext cx="4019710" cy="3602935"/>
          </a:xfrm>
        </p:spPr>
        <p:txBody>
          <a:bodyPr vert="horz" lIns="91440" tIns="45720" rIns="91440" bIns="45720" rtlCol="0">
            <a:normAutofit/>
          </a:bodyPr>
          <a:lstStyle/>
          <a:p>
            <a:pPr marL="285750" indent="-228600">
              <a:buFont typeface="Arial" panose="020B0604020202020204" pitchFamily="34" charset="0"/>
              <a:buChar char="•"/>
            </a:pPr>
            <a:r>
              <a:rPr lang="en-US" sz="2000" b="1" dirty="0"/>
              <a:t>Question: </a:t>
            </a:r>
          </a:p>
          <a:p>
            <a:r>
              <a:rPr lang="en-US" sz="2000" dirty="0"/>
              <a:t>Which patients have matching vs non-matching BC/NPS isolates by genetic similarity?</a:t>
            </a:r>
          </a:p>
          <a:p>
            <a:pPr marL="400050" indent="-342900">
              <a:buFont typeface="Arial" panose="020B0604020202020204" pitchFamily="34" charset="0"/>
              <a:buChar char="•"/>
            </a:pPr>
            <a:r>
              <a:rPr lang="en-US" sz="2000" b="1" dirty="0"/>
              <a:t>Answer:</a:t>
            </a:r>
          </a:p>
          <a:p>
            <a:pPr marL="57150"/>
            <a:r>
              <a:rPr lang="en-US" sz="2000" dirty="0"/>
              <a:t> 74% (26/35) of patients carried an invasive blood clone that did not match their sampled nasal clone.</a:t>
            </a:r>
          </a:p>
          <a:p>
            <a:pPr marL="57150"/>
            <a:r>
              <a:rPr lang="en-US" sz="2000" i="1" dirty="0"/>
              <a:t>See Table 3.</a:t>
            </a:r>
          </a:p>
        </p:txBody>
      </p:sp>
      <p:pic>
        <p:nvPicPr>
          <p:cNvPr id="14" name="Content Placeholder 13">
            <a:extLst>
              <a:ext uri="{FF2B5EF4-FFF2-40B4-BE49-F238E27FC236}">
                <a16:creationId xmlns:a16="http://schemas.microsoft.com/office/drawing/2014/main" id="{9C955AC7-A29F-DB8E-F8C7-7A219726A23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95825" y="874713"/>
            <a:ext cx="6972300" cy="5422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76579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4AFEC1-D538-51B9-6398-A308BC7721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7" y="0"/>
            <a:ext cx="3303587" cy="1600200"/>
          </a:xfrm>
        </p:spPr>
        <p:txBody>
          <a:bodyPr/>
          <a:lstStyle/>
          <a:p>
            <a:r>
              <a:rPr lang="en-US" b="1" dirty="0"/>
              <a:t>Figure</a:t>
            </a:r>
            <a:r>
              <a:rPr lang="en-US" dirty="0"/>
              <a:t> </a:t>
            </a:r>
            <a:r>
              <a:rPr lang="en-US" b="1" dirty="0"/>
              <a:t>5</a:t>
            </a:r>
            <a:r>
              <a:rPr lang="en-US" dirty="0"/>
              <a:t>: Different lineages?</a:t>
            </a:r>
          </a:p>
        </p:txBody>
      </p:sp>
      <p:pic>
        <p:nvPicPr>
          <p:cNvPr id="8" name="Picture Placeholder 7">
            <a:extLst>
              <a:ext uri="{FF2B5EF4-FFF2-40B4-BE49-F238E27FC236}">
                <a16:creationId xmlns:a16="http://schemas.microsoft.com/office/drawing/2014/main" id="{97022A9E-9E62-B79A-E13B-40DC0E9F7E9A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49" b="1349"/>
          <a:stretch>
            <a:fillRect/>
          </a:stretch>
        </p:blipFill>
        <p:spPr>
          <a:xfrm>
            <a:off x="4219575" y="987425"/>
            <a:ext cx="7791450" cy="4873625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485A856-2F11-C9DD-9D87-661963E9CE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303587" cy="3811588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/>
              <a:t>Question: </a:t>
            </a:r>
          </a:p>
          <a:p>
            <a:r>
              <a:rPr lang="en-US" sz="1800" dirty="0"/>
              <a:t>Do BC and NPS isolates come from different lineages?</a:t>
            </a:r>
          </a:p>
          <a:p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/>
              <a:t>Answer</a:t>
            </a:r>
            <a:r>
              <a:rPr lang="en-US" sz="1800" dirty="0"/>
              <a:t>:</a:t>
            </a:r>
          </a:p>
          <a:p>
            <a:r>
              <a:rPr lang="en-US" sz="1800" dirty="0"/>
              <a:t>No, the two groups look highly similar at the population level dominated by circulating regional clones including CC152 (22.9% vs 22.9%) and CC15 (17.1% vs 34.3%)</a:t>
            </a:r>
            <a:r>
              <a:rPr lang="en-US" sz="2000" dirty="0"/>
              <a:t>. </a:t>
            </a:r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i="1" dirty="0"/>
              <a:t>See table 4.</a:t>
            </a:r>
          </a:p>
        </p:txBody>
      </p:sp>
    </p:spTree>
    <p:extLst>
      <p:ext uri="{BB962C8B-B14F-4D97-AF65-F5344CB8AC3E}">
        <p14:creationId xmlns:p14="http://schemas.microsoft.com/office/powerpoint/2010/main" val="23930304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A46633-048A-3B94-3D55-3EC88A0C4C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8549" y="0"/>
            <a:ext cx="3932237" cy="1600200"/>
          </a:xfrm>
        </p:spPr>
        <p:txBody>
          <a:bodyPr/>
          <a:lstStyle/>
          <a:p>
            <a:r>
              <a:rPr lang="en-US" b="1" dirty="0"/>
              <a:t>Figure</a:t>
            </a:r>
            <a:r>
              <a:rPr lang="en-US" dirty="0"/>
              <a:t> </a:t>
            </a:r>
            <a:r>
              <a:rPr lang="en-US" b="1" dirty="0"/>
              <a:t>4</a:t>
            </a:r>
            <a:r>
              <a:rPr lang="en-US" dirty="0"/>
              <a:t>: Virulence Heatmap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39306758-5525-8B75-E845-4EDB067CFEE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11737" y="0"/>
            <a:ext cx="5551714" cy="6858000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94CB2AA-E800-C270-D8A2-43DD5AEF09ED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Why do we have low concordance (74% mismatch)?</a:t>
            </a:r>
          </a:p>
          <a:p>
            <a:endParaRPr lang="en-US" sz="1800" dirty="0"/>
          </a:p>
          <a:p>
            <a:r>
              <a:rPr lang="en-US" sz="1800" dirty="0"/>
              <a:t>The visual patterns in individual blocks for each patient, show that BC and NPS isolates are frequently </a:t>
            </a:r>
            <a:r>
              <a:rPr lang="en-US" sz="1800" b="1" dirty="0"/>
              <a:t>not genetically identical</a:t>
            </a:r>
            <a:r>
              <a:rPr lang="en-US" sz="1800" dirty="0"/>
              <a:t>.</a:t>
            </a:r>
          </a:p>
          <a:p>
            <a:endParaRPr lang="en-US" sz="1800" dirty="0"/>
          </a:p>
          <a:p>
            <a:r>
              <a:rPr lang="en-US" sz="1800" i="1" dirty="0"/>
              <a:t>However, there are s</a:t>
            </a:r>
            <a:r>
              <a:rPr lang="en-US" i="1" dirty="0"/>
              <a:t>imilar virulence patterns between BC and some NPS isolates. </a:t>
            </a:r>
            <a:endParaRPr lang="en-US" sz="1800" i="1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28119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393DDA-F546-6C81-9DCA-0C5DF46D2A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760787" cy="1600200"/>
          </a:xfrm>
        </p:spPr>
        <p:txBody>
          <a:bodyPr/>
          <a:lstStyle/>
          <a:p>
            <a:r>
              <a:rPr lang="en-US" b="1" dirty="0"/>
              <a:t>Figure</a:t>
            </a:r>
            <a:r>
              <a:rPr lang="en-US" dirty="0"/>
              <a:t> </a:t>
            </a:r>
            <a:r>
              <a:rPr lang="en-US" b="1" dirty="0"/>
              <a:t>2</a:t>
            </a:r>
            <a:r>
              <a:rPr lang="en-US" dirty="0"/>
              <a:t>: Sampling Limitations?</a:t>
            </a:r>
          </a:p>
        </p:txBody>
      </p:sp>
      <p:pic>
        <p:nvPicPr>
          <p:cNvPr id="10" name="Picture Placeholder 9">
            <a:extLst>
              <a:ext uri="{FF2B5EF4-FFF2-40B4-BE49-F238E27FC236}">
                <a16:creationId xmlns:a16="http://schemas.microsoft.com/office/drawing/2014/main" id="{0945BC23-2233-977F-03CD-30D872E87FCA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86" r="1586"/>
          <a:stretch>
            <a:fillRect/>
          </a:stretch>
        </p:blipFill>
        <p:spPr>
          <a:xfrm>
            <a:off x="4600575" y="457200"/>
            <a:ext cx="7591425" cy="5880100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262A74A-F89E-434E-A49C-34570CFD28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760787" cy="4279900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Does sampling limitations explain the low matches?</a:t>
            </a:r>
          </a:p>
          <a:p>
            <a:r>
              <a:rPr lang="en-US" dirty="0"/>
              <a:t>Yes! </a:t>
            </a:r>
            <a:r>
              <a:rPr lang="en-US" b="1" dirty="0"/>
              <a:t>sampling limitations are a major reason for our low concordance matches.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Unmatched Patients</a:t>
            </a:r>
            <a:r>
              <a:rPr lang="en-US" dirty="0"/>
              <a:t>:</a:t>
            </a:r>
          </a:p>
          <a:p>
            <a:r>
              <a:rPr lang="en-US" dirty="0"/>
              <a:t> </a:t>
            </a:r>
            <a:r>
              <a:rPr lang="en-US" i="1" dirty="0"/>
              <a:t>Unmatched patients harbored highly diverse nasal environments with up to 4 unique STs and 6 distinct virulence profiles simultaneously.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Matched Patients:</a:t>
            </a:r>
          </a:p>
          <a:p>
            <a:r>
              <a:rPr lang="en-US" i="1" dirty="0"/>
              <a:t>matching was heavily restricted to patients with simplified, single-ST colonization profiles. </a:t>
            </a:r>
            <a:endParaRPr lang="en-US" b="1" i="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38575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097477-2DCF-3C78-D37A-28F3C7C3CE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Conclusions…..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A335E0-B135-1BF1-D353-5169BCDDE5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875264" cy="4351338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 </a:t>
            </a:r>
            <a:r>
              <a:rPr lang="en-US" dirty="0"/>
              <a:t>While the overall </a:t>
            </a:r>
            <a:r>
              <a:rPr lang="en-US" i="1" dirty="0"/>
              <a:t>S. aureus</a:t>
            </a:r>
            <a:r>
              <a:rPr lang="en-US" dirty="0"/>
              <a:t> population structure confirms that regional carriage lineages drive invasive sepsis, a standard nasal swab is a poor predictor of an individual child's disease strain.</a:t>
            </a:r>
          </a:p>
          <a:p>
            <a:pPr marL="0" indent="0">
              <a:buNone/>
            </a:pPr>
            <a:r>
              <a:rPr lang="en-US" dirty="0"/>
              <a:t> Invasive clones frequently hide as low-abundance minority variants within hyper-diverse nasopharyngeal reservoirs, highlighting the profound impact of diagnostic sampling limitations on host-pathogen tracking.</a:t>
            </a:r>
          </a:p>
          <a:p>
            <a:pPr marL="0" indent="0">
              <a:buNone/>
            </a:pPr>
            <a:br>
              <a:rPr lang="en-US" dirty="0"/>
            </a:br>
            <a:endParaRPr lang="en-US" dirty="0"/>
          </a:p>
          <a:p>
            <a:endParaRPr lang="en-US" sz="2400" i="1" dirty="0"/>
          </a:p>
          <a:p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20960315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2A8F47-694B-D28C-6EDB-9DC76E951D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Change of Research topic?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9EE1F5-05E7-955C-A2F2-22ABE705E0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Based upon the analysis results, I will propose the following research topic to better reflect our unique context and dataset: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i="1" dirty="0">
                <a:solidFill>
                  <a:schemeClr val="accent1"/>
                </a:solidFill>
              </a:rPr>
              <a:t>Navigating the Mismatch: High Intra-Host Diversity and Sampling Limitations Obscure the Nasopharyngeal Origin of Invasive Staphylococcus aureus Sepsis in Gambian Infants.</a:t>
            </a:r>
            <a:endParaRPr lang="en-US" dirty="0">
              <a:solidFill>
                <a:schemeClr val="accent1"/>
              </a:solidFill>
            </a:endParaRP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64103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TM03457496[[fn=Parallax]]</Template>
  <TotalTime>1951</TotalTime>
  <Words>459</Words>
  <Application>Microsoft Office PowerPoint</Application>
  <PresentationFormat>Widescreen</PresentationFormat>
  <Paragraphs>50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Office Theme</vt:lpstr>
      <vt:lpstr>S. AUREUS MANUSCRIPT_03 My Preliminary Findings</vt:lpstr>
      <vt:lpstr>Research Topic </vt:lpstr>
      <vt:lpstr>Figure 1: Visual representation of my core result</vt:lpstr>
      <vt:lpstr>Figure 5: Different lineages?</vt:lpstr>
      <vt:lpstr>Figure 4: Virulence Heatmap</vt:lpstr>
      <vt:lpstr>Figure 2: Sampling Limitations?</vt:lpstr>
      <vt:lpstr>Conclusions…..</vt:lpstr>
      <vt:lpstr>Change of Research topic?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Sulayman sowe</dc:creator>
  <cp:lastModifiedBy>Sulayman sowe</cp:lastModifiedBy>
  <cp:revision>4</cp:revision>
  <dcterms:created xsi:type="dcterms:W3CDTF">2026-06-10T11:25:59Z</dcterms:created>
  <dcterms:modified xsi:type="dcterms:W3CDTF">2026-07-09T14:51:58Z</dcterms:modified>
</cp:coreProperties>
</file>