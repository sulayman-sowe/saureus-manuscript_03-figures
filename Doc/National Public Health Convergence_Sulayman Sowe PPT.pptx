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65" r:id="rId5"/>
    <p:sldId id="264" r:id="rId6"/>
    <p:sldId id="266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5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3:26:4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04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3DF2-CD43-9F9C-5EC3-D8068B75D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89B75-3CAC-DFFA-79A3-84AE1A11B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AF008-5D9F-E89E-8A33-98E3B10B8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FB422-FEF4-7DA9-51E6-C9A0C9C33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27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6C2D-28DC-483E-3AFA-C162D230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136D5-737D-BC05-92A2-EA71EA682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E04B9-F148-A257-A331-F7C2E716A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DFC0-8C7B-A2E8-F8DD-CDA4CF575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6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52B0-4557-6A9C-F581-334A3541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099FF-D3E0-41E4-B3DA-FAEE52ED5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3495A-FC6B-6443-26EF-72FBE22F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C329B-CD42-F318-06D8-ECCC7BC00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83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F735-80DB-2247-178D-54F2D2F9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8BDC5-F721-A889-4AFC-2A63D4E3D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3E5E2-70EB-F507-1976-87E222389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A6645-64B3-A442-589C-F164361FB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07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mailto:ssulayman636@gmail.com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hyperlink" Target="https://github.com/sulayman-sow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19050">
            <a:solidFill>
              <a:srgbClr val="1B7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280160" y="3931920"/>
            <a:ext cx="2377440" cy="2377440"/>
          </a:xfrm>
          <a:prstGeom prst="ellipse">
            <a:avLst/>
          </a:prstGeom>
          <a:ln w="15875">
            <a:solidFill>
              <a:srgbClr val="CE11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38048" y="68619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Public Health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3657600"/>
            <a:ext cx="1013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Tomorrow, Strengthening Public Health  Through Science and Sustainable Intervention in The Gambia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</a:t>
            </a:r>
            <a:r>
              <a:rPr lang="en-US" sz="1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October 2026  •  Banjul, The Gambia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9525">
            <a:solidFill>
              <a:srgbClr val="D9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0" descr="apehog_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272" y="6345936"/>
            <a:ext cx="384048" cy="384048"/>
          </a:xfrm>
          <a:prstGeom prst="rect">
            <a:avLst/>
          </a:prstGeom>
        </p:spPr>
      </p:pic>
      <p:pic>
        <p:nvPicPr>
          <p:cNvPr id="11" name="Image 1" descr="gambia_a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12" name="Image 2" descr="unicef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13" name="Image 3" descr="ukri_lsht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4" name="Image 4" descr="who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215" y="1404707"/>
            <a:ext cx="11430000" cy="180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Is nasopharyngeal carriage of </a:t>
            </a:r>
            <a:r>
              <a:rPr lang="en-US" sz="42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Staphylococcus aureus</a:t>
            </a:r>
            <a:r>
              <a:rPr lang="en-US" sz="4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associated with invasive disease in the same patient? </a:t>
            </a:r>
            <a:endParaRPr lang="en-US" sz="4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180015" y="6217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180015" y="621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pic>
        <p:nvPicPr>
          <p:cNvPr id="8" name="Image 0" descr="apehog_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17" y="6199632"/>
            <a:ext cx="866343" cy="713232"/>
          </a:xfrm>
          <a:prstGeom prst="rect">
            <a:avLst/>
          </a:prstGeom>
        </p:spPr>
      </p:pic>
      <p:pic>
        <p:nvPicPr>
          <p:cNvPr id="9" name="Image 1" descr="gambia_a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10" name="Image 2" descr="unicef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11" name="Image 3" descr="ukri_lsht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2" name="Image 4" descr="who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55161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6A9C6E-511B-2B87-EE81-3D8145580CD1}"/>
              </a:ext>
            </a:extLst>
          </p:cNvPr>
          <p:cNvSpPr/>
          <p:nvPr/>
        </p:nvSpPr>
        <p:spPr>
          <a:xfrm>
            <a:off x="350215" y="3418744"/>
            <a:ext cx="4031894" cy="7967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Sulayman Sowe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BSc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MRC Unit The Gambia at the London School of Hygiene &amp; Tropical Medicine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918E3-B8A5-0533-3C64-3F7DD1667711}"/>
              </a:ext>
            </a:extLst>
          </p:cNvPr>
          <p:cNvSpPr txBox="1"/>
          <p:nvPr/>
        </p:nvSpPr>
        <p:spPr>
          <a:xfrm>
            <a:off x="293675" y="4727069"/>
            <a:ext cx="62172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the bloodstream isolate be matched to the nasopharyngeal isolate from the same patient?</a:t>
            </a:r>
          </a:p>
          <a:p>
            <a:endParaRPr lang="en-US" dirty="0"/>
          </a:p>
        </p:txBody>
      </p:sp>
      <p:pic>
        <p:nvPicPr>
          <p:cNvPr id="15" name="Picture 14" descr="Nasopharynx: What Is It, Function &amp; Anatomy">
            <a:extLst>
              <a:ext uri="{FF2B5EF4-FFF2-40B4-BE49-F238E27FC236}">
                <a16:creationId xmlns:a16="http://schemas.microsoft.com/office/drawing/2014/main" id="{4044A4B7-B483-DDD4-6D60-D0F5CB76D2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768" y="3208907"/>
            <a:ext cx="1816763" cy="2554070"/>
          </a:xfrm>
          <a:prstGeom prst="rect">
            <a:avLst/>
          </a:prstGeom>
        </p:spPr>
      </p:pic>
      <p:pic>
        <p:nvPicPr>
          <p:cNvPr id="17" name="Picture 16" descr="5 Surprising Facts About Sepsis | Right as Rain">
            <a:extLst>
              <a:ext uri="{FF2B5EF4-FFF2-40B4-BE49-F238E27FC236}">
                <a16:creationId xmlns:a16="http://schemas.microsoft.com/office/drawing/2014/main" id="{2533621D-56E1-C7D4-3C0B-4B6313836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4748" y="3835883"/>
            <a:ext cx="2578726" cy="1450533"/>
          </a:xfrm>
          <a:prstGeom prst="rect">
            <a:avLst/>
          </a:prstGeom>
        </p:spPr>
      </p:pic>
      <p:sp>
        <p:nvSpPr>
          <p:cNvPr id="20" name="Curved Up Arrow 5">
            <a:extLst>
              <a:ext uri="{FF2B5EF4-FFF2-40B4-BE49-F238E27FC236}">
                <a16:creationId xmlns:a16="http://schemas.microsoft.com/office/drawing/2014/main" id="{1B39580E-D762-CBE4-CE63-F68C35A9786C}"/>
              </a:ext>
            </a:extLst>
          </p:cNvPr>
          <p:cNvSpPr/>
          <p:nvPr/>
        </p:nvSpPr>
        <p:spPr>
          <a:xfrm rot="299417">
            <a:off x="7274810" y="4480107"/>
            <a:ext cx="2072076" cy="43661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578F5-5E60-2D6E-067A-D29C5EBC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160045-98BF-93D5-C43C-BAC7CDB26524}"/>
              </a:ext>
            </a:extLst>
          </p:cNvPr>
          <p:cNvSpPr/>
          <p:nvPr/>
        </p:nvSpPr>
        <p:spPr>
          <a:xfrm>
            <a:off x="640080" y="275890"/>
            <a:ext cx="4382652" cy="104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2149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Study Design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27ADB2-AD0D-0BEF-95F1-63691D89ABB8}"/>
              </a:ext>
            </a:extLst>
          </p:cNvPr>
          <p:cNvSpPr/>
          <p:nvPr/>
        </p:nvSpPr>
        <p:spPr>
          <a:xfrm>
            <a:off x="10466320" y="27589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5170B8-B416-BBB4-1588-50B3AEB9A5BD}"/>
              </a:ext>
            </a:extLst>
          </p:cNvPr>
          <p:cNvSpPr/>
          <p:nvPr/>
        </p:nvSpPr>
        <p:spPr>
          <a:xfrm>
            <a:off x="10494647" y="303321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5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1931297-6486-FCED-069A-F6220E21E6A9}"/>
              </a:ext>
            </a:extLst>
          </p:cNvPr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F8F339-256A-1E2C-9740-1D87BF238D95}"/>
              </a:ext>
            </a:extLst>
          </p:cNvPr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pic>
        <p:nvPicPr>
          <p:cNvPr id="8" name="Image 0" descr="apehog_logo2.png">
            <a:extLst>
              <a:ext uri="{FF2B5EF4-FFF2-40B4-BE49-F238E27FC236}">
                <a16:creationId xmlns:a16="http://schemas.microsoft.com/office/drawing/2014/main" id="{BC45B41D-57C5-0E94-0DAC-53041B932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17" y="6199632"/>
            <a:ext cx="866343" cy="713232"/>
          </a:xfrm>
          <a:prstGeom prst="rect">
            <a:avLst/>
          </a:prstGeom>
        </p:spPr>
      </p:pic>
      <p:pic>
        <p:nvPicPr>
          <p:cNvPr id="9" name="Image 1" descr="gambia_arms.png">
            <a:extLst>
              <a:ext uri="{FF2B5EF4-FFF2-40B4-BE49-F238E27FC236}">
                <a16:creationId xmlns:a16="http://schemas.microsoft.com/office/drawing/2014/main" id="{65077247-2690-1F81-BB5A-07489F16E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10" name="Image 2" descr="unicef_logo.png">
            <a:extLst>
              <a:ext uri="{FF2B5EF4-FFF2-40B4-BE49-F238E27FC236}">
                <a16:creationId xmlns:a16="http://schemas.microsoft.com/office/drawing/2014/main" id="{65E6E8B4-9648-4A81-ECD7-182C2A730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11" name="Image 3" descr="ukri_lshtm_logo.png">
            <a:extLst>
              <a:ext uri="{FF2B5EF4-FFF2-40B4-BE49-F238E27FC236}">
                <a16:creationId xmlns:a16="http://schemas.microsoft.com/office/drawing/2014/main" id="{E93E68CB-D742-D323-80DC-8C6BE599CB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2" name="Image 4" descr="who_logo.png">
            <a:extLst>
              <a:ext uri="{FF2B5EF4-FFF2-40B4-BE49-F238E27FC236}">
                <a16:creationId xmlns:a16="http://schemas.microsoft.com/office/drawing/2014/main" id="{30859006-A245-A851-BBE1-99C865B3A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013D76F6-7CBB-D11D-ECA8-4C162C1D0823}"/>
              </a:ext>
            </a:extLst>
          </p:cNvPr>
          <p:cNvSpPr/>
          <p:nvPr/>
        </p:nvSpPr>
        <p:spPr>
          <a:xfrm>
            <a:off x="1155161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434617-BDCC-1F71-F38D-E92828CB17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035" y="1524198"/>
            <a:ext cx="8287529" cy="40998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BB8024-AF01-B1F6-A97B-D4AE9C260030}"/>
              </a:ext>
            </a:extLst>
          </p:cNvPr>
          <p:cNvSpPr txBox="1"/>
          <p:nvPr/>
        </p:nvSpPr>
        <p:spPr>
          <a:xfrm>
            <a:off x="8712564" y="2973960"/>
            <a:ext cx="3296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 vs. NPS isolates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92809FF-7C17-D8A6-D003-4E5B779B8F28}"/>
                  </a:ext>
                </a:extLst>
              </p14:cNvPr>
              <p14:cNvContentPartPr/>
              <p14:nvPr/>
            </p14:nvContentPartPr>
            <p14:xfrm>
              <a:off x="-1081575" y="590915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92809FF-7C17-D8A6-D003-4E5B779B8F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087695" y="590303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047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94519-DD9C-7080-6264-A8526179B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2314496-D1E1-050B-F6E0-E78E845A51C1}"/>
              </a:ext>
            </a:extLst>
          </p:cNvPr>
          <p:cNvSpPr txBox="1"/>
          <p:nvPr/>
        </p:nvSpPr>
        <p:spPr>
          <a:xfrm>
            <a:off x="8266922" y="2660396"/>
            <a:ext cx="33302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9/35 (26%)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 has the same ST in BC and NPS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5D6E33D-7828-865E-445C-209C9FA5ACF0}"/>
              </a:ext>
            </a:extLst>
          </p:cNvPr>
          <p:cNvSpPr/>
          <p:nvPr/>
        </p:nvSpPr>
        <p:spPr>
          <a:xfrm>
            <a:off x="431321" y="379722"/>
            <a:ext cx="2370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149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66D13F-D369-8EB6-301C-DD867B9D9BB3}"/>
              </a:ext>
            </a:extLst>
          </p:cNvPr>
          <p:cNvSpPr/>
          <p:nvPr/>
        </p:nvSpPr>
        <p:spPr>
          <a:xfrm>
            <a:off x="10180015" y="6217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D015E5-3AC5-9DCB-C131-89FF74B3A926}"/>
              </a:ext>
            </a:extLst>
          </p:cNvPr>
          <p:cNvSpPr/>
          <p:nvPr/>
        </p:nvSpPr>
        <p:spPr>
          <a:xfrm>
            <a:off x="10180015" y="621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5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D3E67B4-EA0D-F681-2E68-87CEF5334118}"/>
              </a:ext>
            </a:extLst>
          </p:cNvPr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120BB5-871A-ADD0-8CBA-95D7FC55FB31}"/>
              </a:ext>
            </a:extLst>
          </p:cNvPr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pic>
        <p:nvPicPr>
          <p:cNvPr id="8" name="Image 0" descr="apehog_logo2.png">
            <a:extLst>
              <a:ext uri="{FF2B5EF4-FFF2-40B4-BE49-F238E27FC236}">
                <a16:creationId xmlns:a16="http://schemas.microsoft.com/office/drawing/2014/main" id="{14F65EEA-298E-EBA7-D39F-38AB82BD0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17" y="6199632"/>
            <a:ext cx="866343" cy="713232"/>
          </a:xfrm>
          <a:prstGeom prst="rect">
            <a:avLst/>
          </a:prstGeom>
        </p:spPr>
      </p:pic>
      <p:pic>
        <p:nvPicPr>
          <p:cNvPr id="9" name="Image 1" descr="gambia_arms.png">
            <a:extLst>
              <a:ext uri="{FF2B5EF4-FFF2-40B4-BE49-F238E27FC236}">
                <a16:creationId xmlns:a16="http://schemas.microsoft.com/office/drawing/2014/main" id="{7B54DA9E-37B2-4D96-A5C1-75E0D5168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10" name="Image 2" descr="unicef_logo.png">
            <a:extLst>
              <a:ext uri="{FF2B5EF4-FFF2-40B4-BE49-F238E27FC236}">
                <a16:creationId xmlns:a16="http://schemas.microsoft.com/office/drawing/2014/main" id="{A23CD6E1-6E19-18D0-953D-AE7324D41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11" name="Image 3" descr="ukri_lshtm_logo.png">
            <a:extLst>
              <a:ext uri="{FF2B5EF4-FFF2-40B4-BE49-F238E27FC236}">
                <a16:creationId xmlns:a16="http://schemas.microsoft.com/office/drawing/2014/main" id="{92A161E2-56B7-56C8-AD45-F7A93B682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2" name="Image 4" descr="who_logo.png">
            <a:extLst>
              <a:ext uri="{FF2B5EF4-FFF2-40B4-BE49-F238E27FC236}">
                <a16:creationId xmlns:a16="http://schemas.microsoft.com/office/drawing/2014/main" id="{17BA455F-5703-4C39-AC63-A77DDE4B0F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AF22175A-6109-958F-E7C2-C66DDBDBEB3D}"/>
              </a:ext>
            </a:extLst>
          </p:cNvPr>
          <p:cNvSpPr/>
          <p:nvPr/>
        </p:nvSpPr>
        <p:spPr>
          <a:xfrm>
            <a:off x="1155161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2AF2F2-4AB0-B816-E104-D73D3E37846E}"/>
              </a:ext>
            </a:extLst>
          </p:cNvPr>
          <p:cNvSpPr txBox="1"/>
          <p:nvPr/>
        </p:nvSpPr>
        <p:spPr>
          <a:xfrm>
            <a:off x="1733909" y="54346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7609412-CA2E-F471-2461-8CADB22B370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90"/>
          <a:stretch>
            <a:fillRect/>
          </a:stretch>
        </p:blipFill>
        <p:spPr>
          <a:xfrm>
            <a:off x="1276960" y="1272444"/>
            <a:ext cx="6028909" cy="4655383"/>
          </a:xfrm>
          <a:prstGeom prst="rect">
            <a:avLst/>
          </a:prstGeom>
          <a:noFill/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B5063C60-C55C-31BF-C3EB-E4B2410A981D}"/>
              </a:ext>
            </a:extLst>
          </p:cNvPr>
          <p:cNvSpPr/>
          <p:nvPr/>
        </p:nvSpPr>
        <p:spPr>
          <a:xfrm>
            <a:off x="3914070" y="1507576"/>
            <a:ext cx="586941" cy="44413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BF3FB84-F4F4-573F-18D3-B1C7FAEA5F17}"/>
              </a:ext>
            </a:extLst>
          </p:cNvPr>
          <p:cNvSpPr/>
          <p:nvPr/>
        </p:nvSpPr>
        <p:spPr>
          <a:xfrm>
            <a:off x="1175225" y="2974970"/>
            <a:ext cx="854892" cy="12496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54BF28-2DCD-50AC-972B-8ACE92B10763}"/>
              </a:ext>
            </a:extLst>
          </p:cNvPr>
          <p:cNvSpPr/>
          <p:nvPr/>
        </p:nvSpPr>
        <p:spPr>
          <a:xfrm>
            <a:off x="2050435" y="3028309"/>
            <a:ext cx="799602" cy="11430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FD2F81D-7624-FEBA-9E9A-712B272CD6D8}"/>
              </a:ext>
            </a:extLst>
          </p:cNvPr>
          <p:cNvSpPr/>
          <p:nvPr/>
        </p:nvSpPr>
        <p:spPr>
          <a:xfrm>
            <a:off x="4363060" y="3377740"/>
            <a:ext cx="872193" cy="44413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3F6BB79-D37B-0F1B-BC35-970D64FE76E4}"/>
              </a:ext>
            </a:extLst>
          </p:cNvPr>
          <p:cNvSpPr/>
          <p:nvPr/>
        </p:nvSpPr>
        <p:spPr>
          <a:xfrm>
            <a:off x="6070235" y="3081649"/>
            <a:ext cx="799602" cy="101237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83319D-8FC9-7336-CDA2-E61E43C79AEE}"/>
              </a:ext>
            </a:extLst>
          </p:cNvPr>
          <p:cNvSpPr/>
          <p:nvPr/>
        </p:nvSpPr>
        <p:spPr>
          <a:xfrm>
            <a:off x="1276960" y="4342216"/>
            <a:ext cx="799602" cy="44413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6D5FBDD-5875-4503-5D5C-E803F64B43B2}"/>
              </a:ext>
            </a:extLst>
          </p:cNvPr>
          <p:cNvSpPr/>
          <p:nvPr/>
        </p:nvSpPr>
        <p:spPr>
          <a:xfrm>
            <a:off x="3556224" y="3895901"/>
            <a:ext cx="916477" cy="12496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FD0212C-82FD-44A1-D860-AE9EE2BCFFCC}"/>
              </a:ext>
            </a:extLst>
          </p:cNvPr>
          <p:cNvSpPr/>
          <p:nvPr/>
        </p:nvSpPr>
        <p:spPr>
          <a:xfrm>
            <a:off x="4494483" y="4002580"/>
            <a:ext cx="739567" cy="103177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AD08AD-9B72-DCB6-2A0E-D83AD68DDF1D}"/>
              </a:ext>
            </a:extLst>
          </p:cNvPr>
          <p:cNvSpPr/>
          <p:nvPr/>
        </p:nvSpPr>
        <p:spPr>
          <a:xfrm>
            <a:off x="5267959" y="4061265"/>
            <a:ext cx="755518" cy="9036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1BCD9A-E24E-C2FD-88A7-7E55F649528E}"/>
              </a:ext>
            </a:extLst>
          </p:cNvPr>
          <p:cNvSpPr txBox="1"/>
          <p:nvPr/>
        </p:nvSpPr>
        <p:spPr>
          <a:xfrm>
            <a:off x="8793981" y="4678475"/>
            <a:ext cx="3087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CC15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CC152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were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dominant lineages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282569-F863-16AB-B9CC-CEEC847BF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321" y="1248342"/>
            <a:ext cx="11120294" cy="497704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3D4309-E5A3-0ED9-0E09-65BD8A1A4D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321" y="1207351"/>
            <a:ext cx="11224673" cy="505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9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C6AF0-F451-FECE-E074-C8EA844C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8790442-C39D-72D5-8536-E654E40C764D}"/>
              </a:ext>
            </a:extLst>
          </p:cNvPr>
          <p:cNvSpPr/>
          <p:nvPr/>
        </p:nvSpPr>
        <p:spPr>
          <a:xfrm>
            <a:off x="10180015" y="6217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1EED44-EA5D-7131-8445-9C645BCC814E}"/>
              </a:ext>
            </a:extLst>
          </p:cNvPr>
          <p:cNvSpPr/>
          <p:nvPr/>
        </p:nvSpPr>
        <p:spPr>
          <a:xfrm>
            <a:off x="10180015" y="621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5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1E9326-526A-1A52-3CF0-B98711186B0A}"/>
              </a:ext>
            </a:extLst>
          </p:cNvPr>
          <p:cNvSpPr/>
          <p:nvPr/>
        </p:nvSpPr>
        <p:spPr>
          <a:xfrm>
            <a:off x="548623" y="5364248"/>
            <a:ext cx="10317192" cy="10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5FE349-303E-00B5-2ABE-8A22332E29CA}"/>
              </a:ext>
            </a:extLst>
          </p:cNvPr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pic>
        <p:nvPicPr>
          <p:cNvPr id="8" name="Image 0" descr="apehog_logo2.png">
            <a:extLst>
              <a:ext uri="{FF2B5EF4-FFF2-40B4-BE49-F238E27FC236}">
                <a16:creationId xmlns:a16="http://schemas.microsoft.com/office/drawing/2014/main" id="{9F7F4BB5-9426-5A5F-CB32-DF31B2817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17" y="6199632"/>
            <a:ext cx="866343" cy="713232"/>
          </a:xfrm>
          <a:prstGeom prst="rect">
            <a:avLst/>
          </a:prstGeom>
        </p:spPr>
      </p:pic>
      <p:pic>
        <p:nvPicPr>
          <p:cNvPr id="9" name="Image 1" descr="gambia_arms.png">
            <a:extLst>
              <a:ext uri="{FF2B5EF4-FFF2-40B4-BE49-F238E27FC236}">
                <a16:creationId xmlns:a16="http://schemas.microsoft.com/office/drawing/2014/main" id="{81530A47-4B69-0D31-2E7C-FC3F6CAD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10" name="Image 2" descr="unicef_logo.png">
            <a:extLst>
              <a:ext uri="{FF2B5EF4-FFF2-40B4-BE49-F238E27FC236}">
                <a16:creationId xmlns:a16="http://schemas.microsoft.com/office/drawing/2014/main" id="{BECA52A1-D381-2CF1-129B-9024ADC25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11" name="Image 3" descr="ukri_lshtm_logo.png">
            <a:extLst>
              <a:ext uri="{FF2B5EF4-FFF2-40B4-BE49-F238E27FC236}">
                <a16:creationId xmlns:a16="http://schemas.microsoft.com/office/drawing/2014/main" id="{E4025F4A-FDFC-EC0F-04A5-7324E947C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2" name="Image 4" descr="who_logo.png">
            <a:extLst>
              <a:ext uri="{FF2B5EF4-FFF2-40B4-BE49-F238E27FC236}">
                <a16:creationId xmlns:a16="http://schemas.microsoft.com/office/drawing/2014/main" id="{B10E40B7-2977-ED9A-AF34-B16EFFEEB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5FD42C4B-06EE-68B4-027B-F59A60E50F1D}"/>
              </a:ext>
            </a:extLst>
          </p:cNvPr>
          <p:cNvSpPr/>
          <p:nvPr/>
        </p:nvSpPr>
        <p:spPr>
          <a:xfrm>
            <a:off x="1155161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0EAB41-92A8-127C-6297-3A8F101A6F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9351" y="858851"/>
            <a:ext cx="6501965" cy="52859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E236158-830E-84CA-59DA-6C761C006E3A}"/>
              </a:ext>
            </a:extLst>
          </p:cNvPr>
          <p:cNvSpPr txBox="1"/>
          <p:nvPr/>
        </p:nvSpPr>
        <p:spPr>
          <a:xfrm>
            <a:off x="167148" y="1005840"/>
            <a:ext cx="25563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cap operon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cna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and </a:t>
            </a:r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hld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 genes produce specific proteins that help bacteria hide from the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immune system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stick tightly to body tissues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damage host cells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96E630-7171-94F3-957E-D1BAA956E6D1}"/>
              </a:ext>
            </a:extLst>
          </p:cNvPr>
          <p:cNvSpPr txBox="1"/>
          <p:nvPr/>
        </p:nvSpPr>
        <p:spPr>
          <a:xfrm>
            <a:off x="0" y="2677213"/>
            <a:ext cx="255638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Abdoulie Bojang et al. (2024) BMC Infect Dis. 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F1C172-1AA0-6EBB-A771-47596635D355}"/>
              </a:ext>
            </a:extLst>
          </p:cNvPr>
          <p:cNvSpPr txBox="1"/>
          <p:nvPr/>
        </p:nvSpPr>
        <p:spPr>
          <a:xfrm>
            <a:off x="9370141" y="2989990"/>
            <a:ext cx="233024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chp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gene encodes the Chemotaxis Inhibitory Protein which plays a key role in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evading the human immune system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to establish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successful bacterial carriage and colonization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629A52-CEAC-1DDD-3954-280B0DFFFBFA}"/>
              </a:ext>
            </a:extLst>
          </p:cNvPr>
          <p:cNvSpPr txBox="1"/>
          <p:nvPr/>
        </p:nvSpPr>
        <p:spPr>
          <a:xfrm>
            <a:off x="9370141" y="4906297"/>
            <a:ext cx="2330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Alex J McCarthy et al. (2012) Frontiers in Cell Infect </a:t>
            </a:r>
            <a:r>
              <a:rPr lang="en-US" sz="900" dirty="0" err="1">
                <a:solidFill>
                  <a:srgbClr val="FF0000"/>
                </a:solidFill>
              </a:rPr>
              <a:t>Microbiol</a:t>
            </a:r>
            <a:r>
              <a:rPr lang="en-US" sz="900" dirty="0">
                <a:solidFill>
                  <a:srgbClr val="FF0000"/>
                </a:solidFill>
              </a:rPr>
              <a:t>. </a:t>
            </a:r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BC7D869-0632-EDC9-0AE9-AB2D89F802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6" y="228594"/>
            <a:ext cx="11582411" cy="59161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05B3EE5-CC2E-28C2-E848-BA516FDCC367}"/>
              </a:ext>
            </a:extLst>
          </p:cNvPr>
          <p:cNvSpPr txBox="1"/>
          <p:nvPr/>
        </p:nvSpPr>
        <p:spPr>
          <a:xfrm>
            <a:off x="9536459" y="4161797"/>
            <a:ext cx="3356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Matched STs showed shorter BC–NPS </a:t>
            </a:r>
          </a:p>
          <a:p>
            <a:r>
              <a:rPr lang="en-GB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Patristic distances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35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E6CAE-7F7D-4425-8F02-CFC67FD8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C7E623-9BAE-6486-CC2F-51AA6A082E40}"/>
              </a:ext>
            </a:extLst>
          </p:cNvPr>
          <p:cNvSpPr/>
          <p:nvPr/>
        </p:nvSpPr>
        <p:spPr>
          <a:xfrm>
            <a:off x="507979" y="465128"/>
            <a:ext cx="10911535" cy="10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D2149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Key Conclusions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5EB9A7B-F70C-E647-B93A-A54B3DFD3F8E}"/>
              </a:ext>
            </a:extLst>
          </p:cNvPr>
          <p:cNvSpPr/>
          <p:nvPr/>
        </p:nvSpPr>
        <p:spPr>
          <a:xfrm>
            <a:off x="10180015" y="6217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EA3E21-3C21-0D10-6620-001CE701A805}"/>
              </a:ext>
            </a:extLst>
          </p:cNvPr>
          <p:cNvSpPr/>
          <p:nvPr/>
        </p:nvSpPr>
        <p:spPr>
          <a:xfrm>
            <a:off x="10180015" y="621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of 5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5BBD8B1-A4EC-DCDD-D46F-775B1F64B46B}"/>
              </a:ext>
            </a:extLst>
          </p:cNvPr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pic>
        <p:nvPicPr>
          <p:cNvPr id="8" name="Image 0" descr="apehog_logo2.png">
            <a:extLst>
              <a:ext uri="{FF2B5EF4-FFF2-40B4-BE49-F238E27FC236}">
                <a16:creationId xmlns:a16="http://schemas.microsoft.com/office/drawing/2014/main" id="{EEE87B1A-397F-9B06-8484-45504BA7C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17" y="6199632"/>
            <a:ext cx="866343" cy="713232"/>
          </a:xfrm>
          <a:prstGeom prst="rect">
            <a:avLst/>
          </a:prstGeom>
        </p:spPr>
      </p:pic>
      <p:pic>
        <p:nvPicPr>
          <p:cNvPr id="9" name="Image 1" descr="gambia_arms.png">
            <a:extLst>
              <a:ext uri="{FF2B5EF4-FFF2-40B4-BE49-F238E27FC236}">
                <a16:creationId xmlns:a16="http://schemas.microsoft.com/office/drawing/2014/main" id="{3439D316-B502-42F2-3422-0B3167F7F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10" name="Image 2" descr="unicef_logo.png">
            <a:extLst>
              <a:ext uri="{FF2B5EF4-FFF2-40B4-BE49-F238E27FC236}">
                <a16:creationId xmlns:a16="http://schemas.microsoft.com/office/drawing/2014/main" id="{FCEBB3B6-0CCA-3A09-D9B3-42680164C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11" name="Image 3" descr="ukri_lshtm_logo.png">
            <a:extLst>
              <a:ext uri="{FF2B5EF4-FFF2-40B4-BE49-F238E27FC236}">
                <a16:creationId xmlns:a16="http://schemas.microsoft.com/office/drawing/2014/main" id="{89E1FC30-251B-18B4-B496-DFD28BFF06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2" name="Image 4" descr="who_logo.png">
            <a:extLst>
              <a:ext uri="{FF2B5EF4-FFF2-40B4-BE49-F238E27FC236}">
                <a16:creationId xmlns:a16="http://schemas.microsoft.com/office/drawing/2014/main" id="{A4E6C37F-CB75-F520-BB8B-2790041300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39225A6A-1BCE-475B-042F-AADD649479FA}"/>
              </a:ext>
            </a:extLst>
          </p:cNvPr>
          <p:cNvSpPr/>
          <p:nvPr/>
        </p:nvSpPr>
        <p:spPr>
          <a:xfrm>
            <a:off x="1155161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74E86D-AAC2-8DE3-CB68-83933DF3F4C9}"/>
              </a:ext>
            </a:extLst>
          </p:cNvPr>
          <p:cNvSpPr txBox="1"/>
          <p:nvPr/>
        </p:nvSpPr>
        <p:spPr>
          <a:xfrm flipH="1">
            <a:off x="429321" y="1761824"/>
            <a:ext cx="100967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Limited patient-level concordance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between sampled nasopharyngeal and blood isolates in this cohort.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Non-concordance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not a source attribution.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Population-level lineage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similarity should not be interpreted as evidence of patient-level carriage–bloodstream concordance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Higher resolution genomic analyses and longitudinal multi-site sampling will be important to clarify carriage and transmission.</a:t>
            </a:r>
          </a:p>
        </p:txBody>
      </p:sp>
    </p:spTree>
    <p:extLst>
      <p:ext uri="{BB962C8B-B14F-4D97-AF65-F5344CB8AC3E}">
        <p14:creationId xmlns:p14="http://schemas.microsoft.com/office/powerpoint/2010/main" val="2394836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149"/>
                </a:solidFill>
                <a:latin typeface="Cambria" pitchFamily="34" charset="0"/>
                <a:ea typeface="Cambria" pitchFamily="34" charset="-122"/>
              </a:rPr>
              <a:t>Acknowledgements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9525">
            <a:solidFill>
              <a:srgbClr val="D9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apehog_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272" y="6345936"/>
            <a:ext cx="384048" cy="384048"/>
          </a:xfrm>
          <a:prstGeom prst="rect">
            <a:avLst/>
          </a:prstGeom>
        </p:spPr>
      </p:pic>
      <p:pic>
        <p:nvPicPr>
          <p:cNvPr id="7" name="Image 1" descr="gambia_a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8" name="Image 2" descr="unicef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9" name="Image 3" descr="ukri_lsht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0" name="Image 4" descr="who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55161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2" name="Picture 10" descr="Gates Foundation | POPGRID">
            <a:extLst>
              <a:ext uri="{FF2B5EF4-FFF2-40B4-BE49-F238E27FC236}">
                <a16:creationId xmlns:a16="http://schemas.microsoft.com/office/drawing/2014/main" id="{33ACFADF-A154-1370-D496-C581ED54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6" y="1290622"/>
            <a:ext cx="2591192" cy="129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African Academy of Sciences (AAS) - International Science Council">
            <a:extLst>
              <a:ext uri="{FF2B5EF4-FFF2-40B4-BE49-F238E27FC236}">
                <a16:creationId xmlns:a16="http://schemas.microsoft.com/office/drawing/2014/main" id="{6B814ECB-DB06-4808-BF48-E590B0BED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60" y="2555500"/>
            <a:ext cx="3097904" cy="72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A87D768-BDD7-BB3D-511E-E97C29BED8D9}"/>
              </a:ext>
            </a:extLst>
          </p:cNvPr>
          <p:cNvSpPr txBox="1">
            <a:spLocks/>
          </p:cNvSpPr>
          <p:nvPr/>
        </p:nvSpPr>
        <p:spPr>
          <a:xfrm>
            <a:off x="339930" y="3251143"/>
            <a:ext cx="3906528" cy="828340"/>
          </a:xfr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sz="4000" b="1"/>
          </a:p>
          <a:p>
            <a:pPr marL="0" indent="0" algn="ctr">
              <a:buFont typeface="Arial" pitchFamily="34" charset="0"/>
              <a:buNone/>
            </a:pPr>
            <a:r>
              <a:rPr lang="en-US" sz="3600" b="1"/>
              <a:t>African Post Doctoral Training Initiative (APTI)</a:t>
            </a:r>
            <a:endParaRPr lang="en-US" sz="3600" b="1" dirty="0"/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9C39FC16-03D3-B6C4-C302-393B85988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238" y="4079483"/>
            <a:ext cx="2045102" cy="180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30C075B-80A0-DC8F-73EC-BADD9B51478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3529"/>
          <a:stretch>
            <a:fillRect/>
          </a:stretch>
        </p:blipFill>
        <p:spPr>
          <a:xfrm>
            <a:off x="7046819" y="1086205"/>
            <a:ext cx="4080682" cy="20343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2D228F-86DA-97BC-C5DA-D3FD55380FB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4677" t="27390" r="701" b="3727"/>
          <a:stretch>
            <a:fillRect/>
          </a:stretch>
        </p:blipFill>
        <p:spPr>
          <a:xfrm>
            <a:off x="7046819" y="3298567"/>
            <a:ext cx="4185152" cy="22850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4DF1425-2289-CABF-D9E9-0D577842133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26401"/>
          <a:stretch>
            <a:fillRect/>
          </a:stretch>
        </p:blipFill>
        <p:spPr>
          <a:xfrm>
            <a:off x="4756559" y="1086204"/>
            <a:ext cx="2073077" cy="203434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A851D8C-4906-F427-45EA-85338FCFDDD8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9431" t="16001"/>
          <a:stretch>
            <a:fillRect/>
          </a:stretch>
        </p:blipFill>
        <p:spPr>
          <a:xfrm>
            <a:off x="4799848" y="3256215"/>
            <a:ext cx="2045103" cy="25290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19050">
            <a:solidFill>
              <a:srgbClr val="1B7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280160" y="3931920"/>
            <a:ext cx="2377440" cy="2377440"/>
          </a:xfrm>
          <a:prstGeom prst="ellipse">
            <a:avLst/>
          </a:prstGeom>
          <a:ln w="15875">
            <a:solidFill>
              <a:srgbClr val="CE11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33573" y="1554481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249528" y="28254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9525">
            <a:solidFill>
              <a:srgbClr val="D9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0" descr="apehog_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272" y="6345936"/>
            <a:ext cx="384048" cy="384048"/>
          </a:xfrm>
          <a:prstGeom prst="rect">
            <a:avLst/>
          </a:prstGeom>
        </p:spPr>
      </p:pic>
      <p:pic>
        <p:nvPicPr>
          <p:cNvPr id="9" name="Image 1" descr="gambia_a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0" y="6345936"/>
            <a:ext cx="384048" cy="384048"/>
          </a:xfrm>
          <a:prstGeom prst="rect">
            <a:avLst/>
          </a:prstGeom>
        </p:spPr>
      </p:pic>
      <p:pic>
        <p:nvPicPr>
          <p:cNvPr id="10" name="Image 2" descr="unicef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6345936"/>
            <a:ext cx="384048" cy="384048"/>
          </a:xfrm>
          <a:prstGeom prst="rect">
            <a:avLst/>
          </a:prstGeom>
        </p:spPr>
      </p:pic>
      <p:pic>
        <p:nvPicPr>
          <p:cNvPr id="11" name="Image 3" descr="ukri_lsht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856" y="6401334"/>
            <a:ext cx="1463040" cy="273253"/>
          </a:xfrm>
          <a:prstGeom prst="rect">
            <a:avLst/>
          </a:prstGeom>
        </p:spPr>
      </p:pic>
      <p:pic>
        <p:nvPicPr>
          <p:cNvPr id="12" name="Image 4" descr="who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6345936"/>
            <a:ext cx="384048" cy="3840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AFB2C2-E762-E240-4E12-FB31EC01A496}"/>
              </a:ext>
            </a:extLst>
          </p:cNvPr>
          <p:cNvSpPr txBox="1"/>
          <p:nvPr/>
        </p:nvSpPr>
        <p:spPr>
          <a:xfrm>
            <a:off x="1249528" y="4532671"/>
            <a:ext cx="9221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Sulayman Sowe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Computational biologist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ssulayman636@gmail.com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US" u="sng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US" u="sng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sulayman</a:t>
            </a:r>
            <a:r>
              <a:rPr lang="en-US" u="sng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-sowe</a:t>
            </a:r>
            <a:r>
              <a:rPr lang="en-US" dirty="0">
                <a:solidFill>
                  <a:schemeClr val="bg1"/>
                </a:solidFill>
              </a:rPr>
              <a:t> |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+220 835125465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329</Words>
  <Application>Microsoft Office PowerPoint</Application>
  <PresentationFormat>Widescreen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Sulayman sowe</cp:lastModifiedBy>
  <cp:revision>7</cp:revision>
  <dcterms:created xsi:type="dcterms:W3CDTF">2026-09-16T19:07:03Z</dcterms:created>
  <dcterms:modified xsi:type="dcterms:W3CDTF">2026-10-06T15:37:13Z</dcterms:modified>
</cp:coreProperties>
</file>